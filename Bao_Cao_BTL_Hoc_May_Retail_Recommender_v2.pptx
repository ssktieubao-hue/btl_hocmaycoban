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78" d="100"/>
          <a:sy n="78" d="100"/>
        </p:scale>
        <p:origin x="158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18/10/2026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18/10/2026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18/10/2026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2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961120" y="-1371600"/>
            <a:ext cx="4754880" cy="4754880"/>
          </a:xfrm>
          <a:prstGeom prst="ellipse">
            <a:avLst/>
          </a:prstGeom>
          <a:solidFill>
            <a:srgbClr val="0C3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14400" y="685800"/>
            <a:ext cx="6217920" cy="384048"/>
          </a:xfrm>
          <a:prstGeom prst="roundRect">
            <a:avLst/>
          </a:prstGeom>
          <a:solidFill>
            <a:srgbClr val="0F443E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1100" b="1">
                <a:solidFill>
                  <a:srgbClr val="FEF3C7"/>
                </a:solidFill>
                <a:latin typeface="Segoe UI" panose="020B0502040204020203"/>
              </a:defRPr>
            </a:pPr>
            <a:r>
              <a:rPr dirty="0"/>
              <a:t>★  BÀI TẬP LỚN MÔN HỌC MÁY  •  LỚP 1</a:t>
            </a:r>
            <a:r>
              <a:rPr lang="en-US" dirty="0"/>
              <a:t>0123O.1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914400" y="1280160"/>
            <a:ext cx="10362895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3600" b="1">
                <a:solidFill>
                  <a:srgbClr val="FFFFFF"/>
                </a:solidFill>
                <a:latin typeface="Segoe UI" panose="020B0502040204020203"/>
              </a:defRPr>
            </a:pPr>
            <a:r>
              <a:t>HỆ THỐNG GỢI Ý MUA KÈM BÁN LẺ</a:t>
            </a:r>
          </a:p>
          <a:p>
            <a:pPr>
              <a:spcAft>
                <a:spcPts val="1000"/>
              </a:spcAft>
              <a:defRPr sz="2200" b="1">
                <a:solidFill>
                  <a:srgbClr val="F59E0B"/>
                </a:solidFill>
                <a:latin typeface="Segoe UI" panose="020B0502040204020203"/>
              </a:defRPr>
            </a:pPr>
            <a:r>
              <a:t>Dựa Trên Ma Trận Đồng Xuất Hiện Cosine Nhị Phân</a:t>
            </a:r>
          </a:p>
          <a:p>
            <a:pPr>
              <a:defRPr sz="1350" i="1">
                <a:solidFill>
                  <a:srgbClr val="94A3B8"/>
                </a:solidFill>
                <a:latin typeface="Segoe UI" panose="020B0502040204020203"/>
              </a:defRPr>
            </a:pPr>
            <a:r>
              <a:t>Retail Cross-Selling Recommender System using Binary Item–Invoice Cosine Modeling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840480"/>
            <a:ext cx="10362895" cy="18288"/>
          </a:xfrm>
          <a:prstGeom prst="rect">
            <a:avLst/>
          </a:prstGeom>
          <a:solidFill>
            <a:srgbClr val="1A5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14400" y="4114800"/>
            <a:ext cx="2423160" cy="2011680"/>
          </a:xfrm>
          <a:prstGeom prst="roundRect">
            <a:avLst/>
          </a:prstGeom>
          <a:solidFill>
            <a:srgbClr val="0B302B"/>
          </a:solidFill>
          <a:ln w="15240">
            <a:solidFill>
              <a:srgbClr val="1C5C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78992" y="4297680"/>
            <a:ext cx="2093976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  <a:latin typeface="Segoe UI" panose="020B0502040204020203"/>
              </a:defRPr>
            </a:pPr>
            <a:r>
              <a:t>👨‍🏫  GIẢNG VIÊN HƯỚNG DẪN</a:t>
            </a:r>
          </a:p>
          <a:p>
            <a:pPr>
              <a:spcAft>
                <a:spcPts val="600"/>
              </a:spcAft>
              <a:defRPr sz="1450" b="1">
                <a:solidFill>
                  <a:srgbClr val="FFFFFF"/>
                </a:solidFill>
                <a:latin typeface="Segoe UI" panose="020B0502040204020203"/>
              </a:defRPr>
            </a:pPr>
            <a:r>
              <a:t>PGS.TS. Nguyễn Văn Hậu</a:t>
            </a:r>
          </a:p>
          <a:p>
            <a:pPr>
              <a:defRPr sz="1050">
                <a:solidFill>
                  <a:srgbClr val="94A3B8"/>
                </a:solidFill>
                <a:latin typeface="Segoe UI" panose="020B0502040204020203"/>
              </a:defRPr>
            </a:pPr>
            <a:r>
              <a:t>Bộ môn Học máy &amp; Trí tuệ nhân tạo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57016" y="4114800"/>
            <a:ext cx="2423160" cy="2011680"/>
          </a:xfrm>
          <a:prstGeom prst="roundRect">
            <a:avLst/>
          </a:prstGeom>
          <a:solidFill>
            <a:srgbClr val="0B302B"/>
          </a:solidFill>
          <a:ln w="15240">
            <a:solidFill>
              <a:srgbClr val="1C5C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721608" y="4297680"/>
            <a:ext cx="2093976" cy="13183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  <a:latin typeface="Segoe UI" panose="020B0502040204020203"/>
              </a:defRPr>
            </a:pPr>
            <a:r>
              <a:rPr dirty="0"/>
              <a:t>👥  NHÓM SINH VIÊN</a:t>
            </a:r>
          </a:p>
          <a:p>
            <a:pPr>
              <a:spcAft>
                <a:spcPts val="600"/>
              </a:spcAft>
              <a:defRPr sz="1450" b="1">
                <a:solidFill>
                  <a:srgbClr val="FFFFFF"/>
                </a:solidFill>
                <a:latin typeface="Segoe UI" panose="020B0502040204020203"/>
              </a:defRPr>
            </a:pPr>
            <a:r>
              <a:rPr dirty="0" err="1"/>
              <a:t>Nhóm</a:t>
            </a:r>
            <a:r>
              <a:rPr dirty="0"/>
              <a:t> 2</a:t>
            </a:r>
            <a:r>
              <a:rPr lang="en-US" dirty="0"/>
              <a:t>:</a:t>
            </a:r>
          </a:p>
          <a:p>
            <a:pPr>
              <a:spcAft>
                <a:spcPts val="600"/>
              </a:spcAft>
              <a:defRPr sz="1450" b="1">
                <a:solidFill>
                  <a:srgbClr val="FFFFFF"/>
                </a:solidFill>
                <a:latin typeface="Segoe UI" panose="020B0502040204020203"/>
              </a:defRPr>
            </a:pPr>
            <a:r>
              <a:rPr dirty="0"/>
              <a:t> </a:t>
            </a:r>
            <a:r>
              <a:rPr lang="en-US" dirty="0"/>
              <a:t>Trịnh Nguyên Bảo</a:t>
            </a:r>
          </a:p>
          <a:p>
            <a:pPr>
              <a:spcAft>
                <a:spcPts val="600"/>
              </a:spcAft>
              <a:defRPr sz="1450" b="1">
                <a:solidFill>
                  <a:srgbClr val="FFFFFF"/>
                </a:solidFill>
                <a:latin typeface="Segoe UI" panose="020B0502040204020203"/>
              </a:defRPr>
            </a:pPr>
            <a:r>
              <a:rPr lang="en-US" dirty="0"/>
              <a:t> Phan Thanh Bình</a:t>
            </a:r>
            <a:endParaRPr dirty="0"/>
          </a:p>
          <a:p>
            <a:pPr>
              <a:defRPr sz="1050">
                <a:solidFill>
                  <a:srgbClr val="94A3B8"/>
                </a:solidFill>
                <a:latin typeface="Segoe UI" panose="020B0502040204020203"/>
              </a:defRPr>
            </a:pPr>
            <a:r>
              <a:rPr dirty="0" err="1"/>
              <a:t>Lớp</a:t>
            </a:r>
            <a:r>
              <a:rPr dirty="0"/>
              <a:t> 1</a:t>
            </a:r>
            <a:r>
              <a:rPr lang="en-US" dirty="0"/>
              <a:t>0123O.1</a:t>
            </a:r>
            <a:r>
              <a:rPr dirty="0"/>
              <a:t> • Khoa CNTT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4114800"/>
            <a:ext cx="2423160" cy="2011680"/>
          </a:xfrm>
          <a:prstGeom prst="roundRect">
            <a:avLst/>
          </a:prstGeom>
          <a:solidFill>
            <a:srgbClr val="0B302B"/>
          </a:solidFill>
          <a:ln w="15240">
            <a:solidFill>
              <a:srgbClr val="1C5C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64224" y="4297680"/>
            <a:ext cx="2093976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  <a:latin typeface="Segoe UI" panose="020B0502040204020203"/>
              </a:defRPr>
            </a:pPr>
            <a:r>
              <a:t>📊  DỮ LIỆU NGHIÊN CỨU</a:t>
            </a:r>
          </a:p>
          <a:p>
            <a:pPr>
              <a:spcAft>
                <a:spcPts val="600"/>
              </a:spcAft>
              <a:defRPr sz="1450" b="1">
                <a:solidFill>
                  <a:srgbClr val="FFFFFF"/>
                </a:solidFill>
                <a:latin typeface="Segoe UI" panose="020B0502040204020203"/>
              </a:defRPr>
            </a:pPr>
            <a:r>
              <a:t>UCI Online Retail II</a:t>
            </a:r>
          </a:p>
          <a:p>
            <a:pPr>
              <a:defRPr sz="1050">
                <a:solidFill>
                  <a:srgbClr val="94A3B8"/>
                </a:solidFill>
                <a:latin typeface="Segoe UI" panose="020B0502040204020203"/>
              </a:defRPr>
            </a:pPr>
            <a:r>
              <a:t>1.067.371 giao dịch • CC BY 4.0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42248" y="4114800"/>
            <a:ext cx="2423160" cy="2011680"/>
          </a:xfrm>
          <a:prstGeom prst="roundRect">
            <a:avLst/>
          </a:prstGeom>
          <a:solidFill>
            <a:srgbClr val="0B302B"/>
          </a:solidFill>
          <a:ln w="15240">
            <a:solidFill>
              <a:srgbClr val="1C5C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006840" y="4297680"/>
            <a:ext cx="2093976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  <a:latin typeface="Segoe UI" panose="020B0502040204020203"/>
              </a:defRPr>
            </a:pPr>
            <a:r>
              <a:t>🔒  CHỐNG RÒ RỈ DỮ LIỆU</a:t>
            </a:r>
          </a:p>
          <a:p>
            <a:pPr>
              <a:spcAft>
                <a:spcPts val="600"/>
              </a:spcAft>
              <a:defRPr sz="1450" b="1">
                <a:solidFill>
                  <a:srgbClr val="FFFFFF"/>
                </a:solidFill>
                <a:latin typeface="Segoe UI" panose="020B0502040204020203"/>
              </a:defRPr>
            </a:pPr>
            <a:r>
              <a:t>frozen-before-test</a:t>
            </a:r>
          </a:p>
          <a:p>
            <a:pPr>
              <a:defRPr sz="1050">
                <a:solidFill>
                  <a:srgbClr val="94A3B8"/>
                </a:solidFill>
                <a:latin typeface="Segoe UI" panose="020B0502040204020203"/>
              </a:defRPr>
            </a:pPr>
            <a:r>
              <a:t>Tag Git đóng băng • Test độc lập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 panose="020B0502040204020203"/>
              </a:defRPr>
            </a:pPr>
            <a:r>
              <a:t>1. TỔNG QUAN BÀI TOÁN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 panose="020B0502040204020203"/>
              </a:defRPr>
            </a:pPr>
            <a:r>
              <a:t>Đặt Vấn Đề &amp; Mục Tiêu Nghiên Cứu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338328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D5C56"/>
                </a:solidFill>
              </a:defRPr>
            </a:pPr>
            <a:r>
              <a:t>Bối Cảnh Thương Mại</a:t>
            </a:r>
          </a:p>
          <a:p>
            <a:pPr>
              <a:defRPr sz="1350">
                <a:solidFill>
                  <a:srgbClr val="0F172A"/>
                </a:solidFill>
              </a:defRPr>
            </a:pPr>
            <a:r>
              <a:t>• Trong bán lẻ trực tuyến, gợi ý mua kèm (Cross-sell / Next-Basket) giúp khách hàng khám phá sản phẩm và tăng giá trị đơn hàng (AOV).</a:t>
            </a:r>
            <a:br/>
            <a:br/>
            <a:r>
              <a:t>• Khác với gợi ý cá nhân hóa dài hạn, bài toán giỏ hàng cần phản hồi ngay theo ngữ cảnh các món đang chọn trong phiên mua sắm hiện tại.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508760"/>
            <a:ext cx="338328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0" y="169164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D5C56"/>
                </a:solidFill>
              </a:defRPr>
            </a:pPr>
            <a:r>
              <a:t>Câu Hỏi Nghiên Cứu</a:t>
            </a:r>
          </a:p>
          <a:p>
            <a:pPr>
              <a:defRPr sz="1350">
                <a:solidFill>
                  <a:srgbClr val="0F172A"/>
                </a:solidFill>
              </a:defRPr>
            </a:pPr>
            <a:r>
              <a:t>• Câu hỏi cốt lõi: Ma trận đồng xuất hiện nhị phân (Item-Invoice) kết hợp độ đo Cosine có tạo ra gợi ý mua kèm chất lượng và vượt trội so với Top bán chạy không?</a:t>
            </a:r>
            <a:br/>
            <a:br/>
            <a:r>
              <a:t>• So sánh với Item-Customer: Vector theo khách hàng hay vector theo hóa đơn mang lại hiệu quả tốt hơn?</a:t>
            </a:r>
            <a:br/>
            <a:br/>
            <a:r>
              <a:t>• Đơn vị quan sát: Sản phẩm (StockCode) trong không gian các hóa đơn.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508760"/>
            <a:ext cx="338328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0" y="169164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D5C56"/>
                </a:solidFill>
              </a:defRPr>
            </a:pPr>
            <a:r>
              <a:t>3 Nguyên Tắc Bắt Buộc</a:t>
            </a:r>
          </a:p>
          <a:p>
            <a:pPr>
              <a:defRPr sz="1350">
                <a:solidFill>
                  <a:srgbClr val="0F172A"/>
                </a:solidFill>
              </a:defRPr>
            </a:pPr>
            <a:r>
              <a:t>1. Chặn rò rỉ dữ liệu (No Leakage): Chia theo hóa đơn &amp; theo thời gian; đóng băng cấu hình trước test.</a:t>
            </a:r>
            <a:br/>
            <a:br/>
            <a:r>
              <a:t>2. Đánh giá nghiêm ngặt: Test chỉ chạy duy nhất 1 lần, có khoảng tin cậy 95% (ci95) và kiểm thử độ nhạy 20 seed.</a:t>
            </a:r>
            <a:br/>
            <a:br/>
            <a:r>
              <a:t>3. Triển khai chuẩn kỹ thuật: Tách train offline khỏi serving online; phản hồi API &lt;2ms.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 panose="020B0502040204020203"/>
              </a:defRPr>
            </a:pPr>
            <a:r>
              <a:t>2. DỮ LIỆU &amp; EDA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 panose="020B0502040204020203"/>
              </a:defRPr>
            </a:pPr>
            <a:r>
              <a:t>Tập Dữ Liệu UCI Online Retail II &amp; Đặc Thù Thực Tế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548640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0D5C56"/>
                </a:solidFill>
              </a:defRPr>
            </a:pPr>
            <a:r>
              <a:rPr dirty="0" err="1"/>
              <a:t>Tổng</a:t>
            </a:r>
            <a:r>
              <a:rPr dirty="0"/>
              <a:t> Quan </a:t>
            </a:r>
            <a:r>
              <a:rPr dirty="0" err="1"/>
              <a:t>Dữ</a:t>
            </a:r>
            <a:r>
              <a:rPr dirty="0"/>
              <a:t> Liệu Giao </a:t>
            </a:r>
            <a:r>
              <a:rPr dirty="0" err="1"/>
              <a:t>Dịch</a:t>
            </a:r>
            <a:endParaRPr dirty="0"/>
          </a:p>
          <a:p>
            <a:pPr>
              <a:spcAft>
                <a:spcPts val="1200"/>
              </a:spcAft>
              <a:defRPr sz="1350"/>
            </a:pPr>
            <a:r>
              <a:rPr dirty="0"/>
              <a:t>• </a:t>
            </a:r>
            <a:r>
              <a:rPr dirty="0" err="1"/>
              <a:t>Nguồn</a:t>
            </a:r>
            <a:r>
              <a:rPr dirty="0"/>
              <a:t>: UCI Online Retail II (Daqing Chen, 2019, CC BY 4.0, DOI: 10.24432/C5CG6D).</a:t>
            </a:r>
            <a:br>
              <a:rPr dirty="0"/>
            </a:br>
            <a:r>
              <a:rPr dirty="0"/>
              <a:t>• Quy </a:t>
            </a:r>
            <a:r>
              <a:rPr dirty="0" err="1"/>
              <a:t>mô</a:t>
            </a:r>
            <a:r>
              <a:rPr dirty="0"/>
              <a:t>: 1.067.371 </a:t>
            </a:r>
            <a:r>
              <a:rPr dirty="0" err="1"/>
              <a:t>dòng</a:t>
            </a:r>
            <a:r>
              <a:rPr dirty="0"/>
              <a:t> </a:t>
            </a:r>
            <a:r>
              <a:rPr dirty="0" err="1"/>
              <a:t>giao</a:t>
            </a:r>
            <a:r>
              <a:rPr dirty="0"/>
              <a:t> </a:t>
            </a:r>
            <a:r>
              <a:rPr dirty="0" err="1"/>
              <a:t>dịch</a:t>
            </a:r>
            <a:r>
              <a:rPr dirty="0"/>
              <a:t>, 8 </a:t>
            </a:r>
            <a:r>
              <a:rPr dirty="0" err="1"/>
              <a:t>biến</a:t>
            </a:r>
            <a:r>
              <a:rPr dirty="0"/>
              <a:t>, </a:t>
            </a:r>
            <a:r>
              <a:rPr dirty="0" err="1"/>
              <a:t>diễn</a:t>
            </a:r>
            <a:r>
              <a:rPr dirty="0"/>
              <a:t> </a:t>
            </a:r>
            <a:r>
              <a:rPr dirty="0" err="1"/>
              <a:t>ra</a:t>
            </a:r>
            <a:r>
              <a:rPr dirty="0"/>
              <a:t> </a:t>
            </a:r>
            <a:r>
              <a:rPr dirty="0" err="1"/>
              <a:t>từ</a:t>
            </a:r>
            <a:r>
              <a:rPr dirty="0"/>
              <a:t> 01/12/2009 </a:t>
            </a:r>
            <a:r>
              <a:rPr dirty="0" err="1"/>
              <a:t>đến</a:t>
            </a:r>
            <a:r>
              <a:rPr dirty="0"/>
              <a:t> 09/12/2011.</a:t>
            </a:r>
            <a:br>
              <a:rPr dirty="0"/>
            </a:br>
            <a:r>
              <a:rPr dirty="0"/>
              <a:t>• </a:t>
            </a:r>
            <a:r>
              <a:rPr dirty="0" err="1"/>
              <a:t>Bản</a:t>
            </a:r>
            <a:r>
              <a:rPr dirty="0"/>
              <a:t> </a:t>
            </a:r>
            <a:r>
              <a:rPr dirty="0" err="1"/>
              <a:t>chất</a:t>
            </a:r>
            <a:r>
              <a:rPr dirty="0"/>
              <a:t> </a:t>
            </a:r>
            <a:r>
              <a:rPr dirty="0" err="1"/>
              <a:t>cửa</a:t>
            </a:r>
            <a:r>
              <a:rPr dirty="0"/>
              <a:t> </a:t>
            </a:r>
            <a:r>
              <a:rPr dirty="0" err="1"/>
              <a:t>hàng</a:t>
            </a:r>
            <a:r>
              <a:rPr dirty="0"/>
              <a:t>: Doanh </a:t>
            </a:r>
            <a:r>
              <a:rPr dirty="0" err="1"/>
              <a:t>nghiệp</a:t>
            </a:r>
            <a:r>
              <a:rPr dirty="0"/>
              <a:t> </a:t>
            </a:r>
            <a:r>
              <a:rPr dirty="0" err="1"/>
              <a:t>bán</a:t>
            </a:r>
            <a:r>
              <a:rPr dirty="0"/>
              <a:t> </a:t>
            </a:r>
            <a:r>
              <a:rPr dirty="0" err="1"/>
              <a:t>đồ</a:t>
            </a:r>
            <a:r>
              <a:rPr dirty="0"/>
              <a:t> </a:t>
            </a:r>
            <a:r>
              <a:rPr dirty="0" err="1"/>
              <a:t>lưu</a:t>
            </a:r>
            <a:r>
              <a:rPr dirty="0"/>
              <a:t> </a:t>
            </a:r>
            <a:r>
              <a:rPr dirty="0" err="1"/>
              <a:t>niệm</a:t>
            </a:r>
            <a:r>
              <a:rPr dirty="0"/>
              <a:t>/</a:t>
            </a:r>
            <a:r>
              <a:rPr dirty="0" err="1"/>
              <a:t>quà</a:t>
            </a:r>
            <a:r>
              <a:rPr dirty="0"/>
              <a:t> </a:t>
            </a:r>
            <a:r>
              <a:rPr dirty="0" err="1"/>
              <a:t>tặng</a:t>
            </a:r>
            <a:r>
              <a:rPr dirty="0"/>
              <a:t> </a:t>
            </a:r>
            <a:r>
              <a:rPr dirty="0" err="1"/>
              <a:t>tại</a:t>
            </a:r>
            <a:r>
              <a:rPr dirty="0"/>
              <a:t> Anh (92.6% </a:t>
            </a:r>
            <a:r>
              <a:rPr dirty="0" err="1"/>
              <a:t>khách</a:t>
            </a:r>
            <a:r>
              <a:rPr dirty="0"/>
              <a:t> UK), </a:t>
            </a:r>
            <a:r>
              <a:rPr dirty="0" err="1"/>
              <a:t>có</a:t>
            </a:r>
            <a:r>
              <a:rPr dirty="0"/>
              <a:t> </a:t>
            </a:r>
            <a:r>
              <a:rPr dirty="0" err="1"/>
              <a:t>nhiều</a:t>
            </a:r>
            <a:r>
              <a:rPr dirty="0"/>
              <a:t> </a:t>
            </a:r>
            <a:r>
              <a:rPr dirty="0" err="1"/>
              <a:t>đơn</a:t>
            </a:r>
            <a:r>
              <a:rPr dirty="0"/>
              <a:t> </a:t>
            </a:r>
            <a:r>
              <a:rPr dirty="0" err="1"/>
              <a:t>bán</a:t>
            </a:r>
            <a:r>
              <a:rPr dirty="0"/>
              <a:t> </a:t>
            </a:r>
            <a:r>
              <a:rPr dirty="0" err="1"/>
              <a:t>sỉ</a:t>
            </a:r>
            <a:r>
              <a:rPr dirty="0"/>
              <a:t> </a:t>
            </a:r>
            <a:r>
              <a:rPr dirty="0" err="1"/>
              <a:t>số</a:t>
            </a:r>
            <a:r>
              <a:rPr dirty="0"/>
              <a:t> </a:t>
            </a:r>
            <a:r>
              <a:rPr dirty="0" err="1"/>
              <a:t>lượng</a:t>
            </a:r>
            <a:r>
              <a:rPr dirty="0"/>
              <a:t> </a:t>
            </a:r>
            <a:r>
              <a:rPr dirty="0" err="1"/>
              <a:t>lớn</a:t>
            </a:r>
            <a:r>
              <a:rPr dirty="0"/>
              <a:t>.</a:t>
            </a:r>
          </a:p>
          <a:p>
            <a:pPr>
              <a:spcAft>
                <a:spcPts val="600"/>
              </a:spcAft>
              <a:defRPr sz="1500" b="1">
                <a:solidFill>
                  <a:srgbClr val="D97706"/>
                </a:solidFill>
              </a:defRPr>
            </a:pPr>
            <a:r>
              <a:rPr dirty="0"/>
              <a:t>3 </a:t>
            </a:r>
            <a:r>
              <a:rPr dirty="0" err="1"/>
              <a:t>Phát</a:t>
            </a:r>
            <a:r>
              <a:rPr dirty="0"/>
              <a:t> </a:t>
            </a:r>
            <a:r>
              <a:rPr dirty="0" err="1"/>
              <a:t>Hiện</a:t>
            </a:r>
            <a:r>
              <a:rPr dirty="0"/>
              <a:t> Quan </a:t>
            </a:r>
            <a:r>
              <a:rPr dirty="0" err="1"/>
              <a:t>Trọng</a:t>
            </a:r>
            <a:r>
              <a:rPr dirty="0"/>
              <a:t> </a:t>
            </a:r>
            <a:r>
              <a:rPr dirty="0" err="1"/>
              <a:t>Từ</a:t>
            </a:r>
            <a:r>
              <a:rPr dirty="0"/>
              <a:t> EDA:</a:t>
            </a:r>
          </a:p>
          <a:p>
            <a:pPr>
              <a:defRPr sz="1300"/>
            </a:pPr>
            <a:r>
              <a:rPr dirty="0"/>
              <a:t>1. </a:t>
            </a:r>
            <a:r>
              <a:rPr dirty="0" err="1"/>
              <a:t>Phân</a:t>
            </a:r>
            <a:r>
              <a:rPr dirty="0"/>
              <a:t> </a:t>
            </a:r>
            <a:r>
              <a:rPr dirty="0" err="1"/>
              <a:t>phối</a:t>
            </a:r>
            <a:r>
              <a:rPr dirty="0"/>
              <a:t> </a:t>
            </a:r>
            <a:r>
              <a:rPr dirty="0" err="1"/>
              <a:t>đuôi</a:t>
            </a:r>
            <a:r>
              <a:rPr dirty="0"/>
              <a:t> </a:t>
            </a:r>
            <a:r>
              <a:rPr dirty="0" err="1"/>
              <a:t>dài</a:t>
            </a:r>
            <a:r>
              <a:rPr dirty="0"/>
              <a:t> (Long-tail): 25% </a:t>
            </a:r>
            <a:r>
              <a:rPr dirty="0" err="1"/>
              <a:t>sản</a:t>
            </a:r>
            <a:r>
              <a:rPr dirty="0"/>
              <a:t> </a:t>
            </a:r>
            <a:r>
              <a:rPr dirty="0" err="1"/>
              <a:t>phẩm</a:t>
            </a:r>
            <a:r>
              <a:rPr dirty="0"/>
              <a:t> </a:t>
            </a:r>
            <a:r>
              <a:rPr dirty="0" err="1"/>
              <a:t>chỉ</a:t>
            </a:r>
            <a:r>
              <a:rPr dirty="0"/>
              <a:t> </a:t>
            </a:r>
            <a:r>
              <a:rPr dirty="0" err="1"/>
              <a:t>xuất</a:t>
            </a:r>
            <a:r>
              <a:rPr dirty="0"/>
              <a:t> </a:t>
            </a:r>
            <a:r>
              <a:rPr dirty="0" err="1"/>
              <a:t>hiện</a:t>
            </a:r>
            <a:r>
              <a:rPr dirty="0"/>
              <a:t> &lt;= 17 </a:t>
            </a:r>
            <a:r>
              <a:rPr dirty="0" err="1"/>
              <a:t>hóa</a:t>
            </a:r>
            <a:r>
              <a:rPr dirty="0"/>
              <a:t> </a:t>
            </a:r>
            <a:r>
              <a:rPr dirty="0" err="1"/>
              <a:t>đơn</a:t>
            </a:r>
            <a:r>
              <a:rPr dirty="0"/>
              <a:t>. </a:t>
            </a:r>
            <a:r>
              <a:rPr dirty="0" err="1"/>
              <a:t>Sản</a:t>
            </a:r>
            <a:r>
              <a:rPr dirty="0"/>
              <a:t> </a:t>
            </a:r>
            <a:r>
              <a:rPr dirty="0" err="1"/>
              <a:t>phẩm</a:t>
            </a:r>
            <a:r>
              <a:rPr dirty="0"/>
              <a:t> top 1 </a:t>
            </a:r>
            <a:r>
              <a:rPr dirty="0" err="1"/>
              <a:t>xuất</a:t>
            </a:r>
            <a:r>
              <a:rPr dirty="0"/>
              <a:t> </a:t>
            </a:r>
            <a:r>
              <a:rPr dirty="0" err="1"/>
              <a:t>hiện</a:t>
            </a:r>
            <a:r>
              <a:rPr dirty="0"/>
              <a:t> </a:t>
            </a:r>
            <a:r>
              <a:rPr dirty="0" err="1"/>
              <a:t>trong</a:t>
            </a:r>
            <a:r>
              <a:rPr dirty="0"/>
              <a:t> 15.4% </a:t>
            </a:r>
            <a:r>
              <a:rPr dirty="0" err="1"/>
              <a:t>hóa</a:t>
            </a:r>
            <a:r>
              <a:rPr dirty="0"/>
              <a:t> </a:t>
            </a:r>
            <a:r>
              <a:rPr dirty="0" err="1"/>
              <a:t>đơn</a:t>
            </a:r>
            <a:r>
              <a:rPr dirty="0"/>
              <a:t>.</a:t>
            </a:r>
            <a:br>
              <a:rPr dirty="0"/>
            </a:br>
            <a:r>
              <a:rPr dirty="0"/>
              <a:t>2. </a:t>
            </a:r>
            <a:r>
              <a:rPr dirty="0" err="1"/>
              <a:t>Giỏ</a:t>
            </a:r>
            <a:r>
              <a:rPr dirty="0"/>
              <a:t> </a:t>
            </a:r>
            <a:r>
              <a:rPr dirty="0" err="1"/>
              <a:t>hàng</a:t>
            </a:r>
            <a:r>
              <a:rPr dirty="0"/>
              <a:t> </a:t>
            </a:r>
            <a:r>
              <a:rPr dirty="0" err="1"/>
              <a:t>biến</a:t>
            </a:r>
            <a:r>
              <a:rPr dirty="0"/>
              <a:t> </a:t>
            </a:r>
            <a:r>
              <a:rPr dirty="0" err="1"/>
              <a:t>động</a:t>
            </a:r>
            <a:r>
              <a:rPr dirty="0"/>
              <a:t> </a:t>
            </a:r>
            <a:r>
              <a:rPr dirty="0" err="1"/>
              <a:t>mạnh</a:t>
            </a:r>
            <a:r>
              <a:rPr dirty="0"/>
              <a:t>: Trung </a:t>
            </a:r>
            <a:r>
              <a:rPr dirty="0" err="1"/>
              <a:t>vị</a:t>
            </a:r>
            <a:r>
              <a:rPr dirty="0"/>
              <a:t> 15 </a:t>
            </a:r>
            <a:r>
              <a:rPr dirty="0" err="1"/>
              <a:t>sản</a:t>
            </a:r>
            <a:r>
              <a:rPr dirty="0"/>
              <a:t> </a:t>
            </a:r>
            <a:r>
              <a:rPr dirty="0" err="1"/>
              <a:t>phẩm</a:t>
            </a:r>
            <a:r>
              <a:rPr dirty="0"/>
              <a:t>/</a:t>
            </a:r>
            <a:r>
              <a:rPr dirty="0" err="1"/>
              <a:t>hóa</a:t>
            </a:r>
            <a:r>
              <a:rPr dirty="0"/>
              <a:t> </a:t>
            </a:r>
            <a:r>
              <a:rPr dirty="0" err="1"/>
              <a:t>đơn</a:t>
            </a:r>
            <a:r>
              <a:rPr dirty="0"/>
              <a:t>, </a:t>
            </a:r>
            <a:r>
              <a:rPr dirty="0" err="1"/>
              <a:t>nhưng</a:t>
            </a:r>
            <a:r>
              <a:rPr dirty="0"/>
              <a:t> </a:t>
            </a:r>
            <a:r>
              <a:rPr dirty="0" err="1"/>
              <a:t>có</a:t>
            </a:r>
            <a:r>
              <a:rPr dirty="0"/>
              <a:t> </a:t>
            </a:r>
            <a:r>
              <a:rPr dirty="0" err="1"/>
              <a:t>hóa</a:t>
            </a:r>
            <a:r>
              <a:rPr dirty="0"/>
              <a:t> </a:t>
            </a:r>
            <a:r>
              <a:rPr dirty="0" err="1"/>
              <a:t>đơn</a:t>
            </a:r>
            <a:r>
              <a:rPr dirty="0"/>
              <a:t> </a:t>
            </a:r>
            <a:r>
              <a:rPr dirty="0" err="1"/>
              <a:t>lên</a:t>
            </a:r>
            <a:r>
              <a:rPr dirty="0"/>
              <a:t> </a:t>
            </a:r>
            <a:r>
              <a:rPr dirty="0" err="1"/>
              <a:t>tới</a:t>
            </a:r>
            <a:r>
              <a:rPr dirty="0"/>
              <a:t> 673 </a:t>
            </a:r>
            <a:r>
              <a:rPr dirty="0" err="1"/>
              <a:t>sản</a:t>
            </a:r>
            <a:r>
              <a:rPr dirty="0"/>
              <a:t> </a:t>
            </a:r>
            <a:r>
              <a:rPr dirty="0" err="1"/>
              <a:t>phẩm</a:t>
            </a:r>
            <a:r>
              <a:rPr dirty="0"/>
              <a:t> (</a:t>
            </a:r>
            <a:r>
              <a:rPr dirty="0" err="1"/>
              <a:t>khách</a:t>
            </a:r>
            <a:r>
              <a:rPr dirty="0"/>
              <a:t> </a:t>
            </a:r>
            <a:r>
              <a:rPr dirty="0" err="1"/>
              <a:t>sỉ</a:t>
            </a:r>
            <a:r>
              <a:rPr dirty="0"/>
              <a:t>).</a:t>
            </a:r>
            <a:br>
              <a:rPr dirty="0"/>
            </a:br>
            <a:r>
              <a:rPr dirty="0"/>
              <a:t>3. </a:t>
            </a:r>
            <a:r>
              <a:rPr dirty="0" err="1"/>
              <a:t>Nhóm</a:t>
            </a:r>
            <a:r>
              <a:rPr dirty="0"/>
              <a:t> </a:t>
            </a:r>
            <a:r>
              <a:rPr dirty="0" err="1"/>
              <a:t>túi</a:t>
            </a:r>
            <a:r>
              <a:rPr dirty="0"/>
              <a:t> </a:t>
            </a:r>
            <a:r>
              <a:rPr dirty="0" err="1"/>
              <a:t>quà</a:t>
            </a:r>
            <a:r>
              <a:rPr dirty="0"/>
              <a:t> </a:t>
            </a:r>
            <a:r>
              <a:rPr dirty="0" err="1"/>
              <a:t>tặng</a:t>
            </a:r>
            <a:r>
              <a:rPr dirty="0"/>
              <a:t>: Top 20 </a:t>
            </a:r>
            <a:r>
              <a:rPr dirty="0" err="1"/>
              <a:t>sản</a:t>
            </a:r>
            <a:r>
              <a:rPr dirty="0"/>
              <a:t> </a:t>
            </a:r>
            <a:r>
              <a:rPr dirty="0" err="1"/>
              <a:t>phẩm</a:t>
            </a:r>
            <a:r>
              <a:rPr dirty="0"/>
              <a:t> </a:t>
            </a:r>
            <a:r>
              <a:rPr dirty="0" err="1"/>
              <a:t>bán</a:t>
            </a:r>
            <a:r>
              <a:rPr dirty="0"/>
              <a:t> </a:t>
            </a:r>
            <a:r>
              <a:rPr dirty="0" err="1"/>
              <a:t>chạy</a:t>
            </a:r>
            <a:r>
              <a:rPr dirty="0"/>
              <a:t> </a:t>
            </a:r>
            <a:r>
              <a:rPr dirty="0" err="1"/>
              <a:t>có</a:t>
            </a:r>
            <a:r>
              <a:rPr dirty="0"/>
              <a:t> </a:t>
            </a:r>
            <a:r>
              <a:rPr dirty="0" err="1"/>
              <a:t>tới</a:t>
            </a:r>
            <a:r>
              <a:rPr dirty="0"/>
              <a:t> 7 </a:t>
            </a:r>
            <a:r>
              <a:rPr dirty="0" err="1"/>
              <a:t>loại</a:t>
            </a:r>
            <a:r>
              <a:rPr dirty="0"/>
              <a:t> </a:t>
            </a:r>
            <a:r>
              <a:rPr dirty="0" err="1"/>
              <a:t>túi</a:t>
            </a:r>
            <a:r>
              <a:rPr dirty="0"/>
              <a:t> </a:t>
            </a:r>
            <a:r>
              <a:rPr dirty="0" err="1"/>
              <a:t>quà</a:t>
            </a:r>
            <a:r>
              <a:rPr dirty="0"/>
              <a:t> (Bag, Shopper).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1508760"/>
            <a:ext cx="493776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eda_basket_siz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1691640"/>
            <a:ext cx="4663440" cy="36466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629400" y="5760720"/>
            <a:ext cx="4663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i="1">
                <a:solidFill>
                  <a:srgbClr val="64748B"/>
                </a:solidFill>
              </a:defRPr>
            </a:pPr>
            <a:r>
              <a:t>Hình 1: Phân phối kích thước giỏ hàng (Số sản phẩm / Hóa đơn)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 panose="020B0502040204020203"/>
              </a:defRPr>
            </a:pPr>
            <a:r>
              <a:t>3. TIỀN XỬ LÝ &amp; CHIA TẬP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 panose="020B0502040204020203"/>
              </a:defRPr>
            </a:pPr>
            <a:r>
              <a:t>Chiến Lược Làm Sạch &amp; Chặn Rò Rỉ Dữ Liệu (No Leakage)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512064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0D5C56"/>
                </a:solidFill>
              </a:defRPr>
            </a:pPr>
            <a:r>
              <a:t>Luật Làm Sạch Cố Định (Fixed Rules)</a:t>
            </a:r>
          </a:p>
          <a:p>
            <a:pPr>
              <a:defRPr sz="1350"/>
            </a:pPr>
            <a:r>
              <a:t>Chỉ áp dụng luật kinh doanh cố định, TUYỆT ĐỐI KHÔNG học bất kỳ thông tin nào từ dữ liệu ở bước này:</a:t>
            </a:r>
            <a:br/>
            <a:br/>
            <a:r>
              <a:t>• Loại hóa đơn hủy (Invoice bắt đầu bằng C): Loại 19.494 dòng</a:t>
            </a:r>
            <a:br/>
            <a:r>
              <a:t>• Loại Quantity &lt;= 0: Loại 3.457 dòng</a:t>
            </a:r>
            <a:br/>
            <a:r>
              <a:t>• Loại Price &lt;= 0: Loại 2.750 dòng</a:t>
            </a:r>
            <a:br/>
            <a:r>
              <a:t>• Loại mã phi sản phẩm (POST, D, M, BANK CHARGES...): Loại 4.794 dòng</a:t>
            </a:r>
            <a:br/>
            <a:r>
              <a:t>• Kiểm tra Description thiếu: 0 dòng</a:t>
            </a:r>
            <a:br/>
            <a:br/>
            <a:r>
              <a:t>-&gt; Tổng cộng loại 30.495 dòng (2.86%), còn lại 1.036.876 dòng sạch.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08760"/>
            <a:ext cx="521208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169164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0D5C56"/>
                </a:solidFill>
              </a:defRPr>
            </a:pPr>
            <a:r>
              <a:t>Phân Chia 70 / 15 / 15 Không Rò Rỉ</a:t>
            </a:r>
          </a:p>
          <a:p>
            <a:pPr>
              <a:defRPr sz="1350"/>
            </a:pPr>
            <a:r>
              <a:t>• Chia theo HÓA ĐƠN: Mọi dòng của cùng một hóa đơn phải nằm trọn vẹn trong một tập (có unit test kiểm tra giao rỗng: A ∩ B = ∅).</a:t>
            </a:r>
            <a:br/>
            <a:br/>
            <a:r>
              <a:t>• Chia theo THỜI GIAN: Train (cũ nhất, 70%) -&gt; Validation (tiếp theo, 15%) -&gt; Test (mới nhất, 15%). Mô phỏng thực tế: Dùng quá khứ dự đoán tương lai.</a:t>
            </a:r>
            <a:br/>
            <a:br/>
            <a:r>
              <a:t>• Ngưỡng tần suất chỉ đếm trên Train: Không đếm trên tập tổng để tránh rò rỉ từ vựng.</a:t>
            </a:r>
            <a:br/>
            <a:br/>
            <a:r>
              <a:t>• Đóng băng mô hình: Toàn bộ cấu hình và code test được gắn tag Git frozen-before-test trước khi xem tập Test.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 panose="020B0502040204020203"/>
              </a:defRPr>
            </a:pPr>
            <a:r>
              <a:t>4. MÔ HÌNH HỌC MÁY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 panose="020B0502040204020203"/>
              </a:defRPr>
            </a:pPr>
            <a:r>
              <a:t>Cơ Sở Lý Thuyết: Cosine Trên Vector Nhị Phân Item–Invoice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521208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0D5C56"/>
                </a:solidFill>
              </a:defRPr>
            </a:pPr>
            <a:r>
              <a:t>Bản Chất Vector Nhị Phân</a:t>
            </a:r>
          </a:p>
          <a:p>
            <a:pPr>
              <a:defRPr sz="1350"/>
            </a:pPr>
            <a:r>
              <a:t>• Mỗi sản phẩm i là một vector nhị phân x_i ∈ {0, 1}^M trên M hóa đơn huấn luyện (vị trí j = 1 nếu hóa đơn j có chứa sản phẩm i).</a:t>
            </a:r>
            <a:br/>
            <a:br/>
            <a:r>
              <a:t>• Tại sao nhị phân hóa?</a:t>
            </a:r>
            <a:br/>
            <a:r>
              <a:t>  + Loại bỏ ảnh hưởng cực đoan của các đơn mua sỉ số lượng lớn (mua 1 món hay 100 món đều là 'có nhu cầu').</a:t>
            </a:r>
            <a:br/>
            <a:r>
              <a:t>  + Dễ giải thích, tính toán cực nhanh qua ma trận thưa (Scipy CSR Matrix).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08760"/>
            <a:ext cx="521208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169164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0D5C56"/>
                </a:solidFill>
              </a:defRPr>
            </a:pPr>
            <a:r>
              <a:t>Công Thức Cosine &amp; Điểm Giỏ Hàng</a:t>
            </a:r>
          </a:p>
          <a:p>
            <a:pPr>
              <a:defRPr sz="1300"/>
            </a:pPr>
            <a:r>
              <a:t>1. Độ tương đồng giữa 2 sản phẩm A và B:</a:t>
            </a:r>
            <a:br/>
            <a:r>
              <a:t>   cos(A, B) = |H_A ∩ H_B| / ( căn(|H_A|) × căn(|H_B|) )</a:t>
            </a:r>
            <a:br/>
            <a:r>
              <a:t>   -&gt; Tử số: Số hóa đơn chứa cả 2 sản phẩm.</a:t>
            </a:r>
            <a:br/>
            <a:r>
              <a:t>   -&gt; Mẫu số: Chuẩn hóa theo tần suất của từng món -&gt; Tự động phạt hàng đại trà, ưu tiên liên kết thực chất.</a:t>
            </a:r>
            <a:br/>
            <a:br/>
            <a:r>
              <a:t>2. Điểm gợi ý cho giỏ hàng nhiều món:</a:t>
            </a:r>
            <a:br/>
            <a:r>
              <a:t>   Score(c) = ∑_{q ∈ Basket} cos(c, q)  với c ∉ Basket</a:t>
            </a:r>
            <a:br/>
            <a:r>
              <a:t>   (Loại trừ các món đã có trong giỏ, không gợi ý món điểm 0).</a:t>
            </a:r>
            <a:br/>
            <a:br/>
            <a:r>
              <a:t>3. Mô hình cơ sở (Baseline): Gợi ý Top sản phẩm có số lượng hóa đơn cao nhất toàn cục.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 panose="020B0502040204020203"/>
              </a:defRPr>
            </a:pPr>
            <a:r>
              <a:t>5. PHƯƠNG PHÁP ĐÁNH GIÁ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 panose="020B0502040204020203"/>
              </a:defRPr>
            </a:pPr>
            <a:r>
              <a:t>Giao Thức Leave-One-Out &amp; Bộ Chỉ Số Toàn Diện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512064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0D5C56"/>
                </a:solidFill>
              </a:defRPr>
            </a:pPr>
            <a:r>
              <a:t>Giao Thức Leave-One-Out</a:t>
            </a:r>
          </a:p>
          <a:p>
            <a:pPr>
              <a:defRPr sz="1350"/>
            </a:pPr>
            <a:r>
              <a:t>• Với mỗi hóa đơn đánh giá có ít nhất 2 sản phẩm:</a:t>
            </a:r>
            <a:br/>
            <a:r>
              <a:t>  1. Giấu ngẫu nhiên 1 sản phẩm đã từng xuất hiện ở Train (nhãn ground-truth, cố định seed = 42).</a:t>
            </a:r>
            <a:br/>
            <a:r>
              <a:t>  2. Dùng các sản phẩm còn lại làm đầu vào (Query) để mô hình dự đoán Top-K.</a:t>
            </a:r>
            <a:br/>
            <a:r>
              <a:t>  3. Ghi nhận 'Trúng' (Hit) nếu sản phẩm bị giấu nằm trong Top-K gợi ý.</a:t>
            </a:r>
            <a:br/>
            <a:br/>
            <a:r>
              <a:t>• Bản chất Hit-rate: Vì giỏ hàng có thể có nhiều món hợp lý khác nhưng chỉ giấu 1 món, Hit-rate là CẬN DƯỚI của chất lượng thực tế. Do đó phải đọc cùng Baseline.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08760"/>
            <a:ext cx="521208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169164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0D5C56"/>
                </a:solidFill>
              </a:defRPr>
            </a:pPr>
            <a:r>
              <a:t>Bộ Chỉ Số Đánh Giá Toàn Diện</a:t>
            </a:r>
          </a:p>
          <a:p>
            <a:pPr>
              <a:defRPr sz="1300"/>
            </a:pPr>
            <a:r>
              <a:t>1. Hit-rate@K (K = 5, 10, 20):</a:t>
            </a:r>
            <a:br/>
            <a:r>
              <a:t>   Tỷ lệ ca mà món bị giấu nằm trong Top-K. K chính báo cáo = 10.</a:t>
            </a:r>
            <a:br/>
            <a:br/>
            <a:r>
              <a:t>2. Độ phủ danh mục (Coverage@K):</a:t>
            </a:r>
            <a:br/>
            <a:r>
              <a:t>   Tỷ lệ sản phẩm khác nhau trong kho được gợi ý ít nhất một lần. Đánh giá mô hình có phủ rộng danh mục hay chỉ loanh quanh vài món quen thuộc.</a:t>
            </a:r>
            <a:br/>
            <a:br/>
            <a:r>
              <a:t>3. Tỷ lệ hàng phổ biến (Popularity Share):</a:t>
            </a:r>
            <a:br/>
            <a:r>
              <a:t>   Tỷ lệ lượt gợi ý thuộc Top 100 sản phẩm bán chạy nhất. Đánh giá mức độ thiên lệch của mô hình.</a:t>
            </a:r>
            <a:br/>
            <a:br/>
            <a:r>
              <a:t>4. Khoảng tin cậy 95% (ci95):</a:t>
            </a:r>
            <a:br/>
            <a:r>
              <a:t>   ci95 = 1.96 × căn(p(1 - p) / n) để xác nhận chênh lệch có ý nghĩa thống kê hay chỉ do ngẫu nhiên.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 panose="020B0502040204020203"/>
              </a:defRPr>
            </a:pPr>
            <a:r>
              <a:t>6. THÍ NGHIỆM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 panose="020B0502040204020203"/>
              </a:defRPr>
            </a:pPr>
            <a:r>
              <a:t>Thí Nghiệm 1, 2 &amp; 3: Lựa Chọn Cấu Hình Mô Hình Tối Ưu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512064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D5C56"/>
                </a:solidFill>
              </a:defRPr>
            </a:pPr>
            <a:r>
              <a:t>Thí Nghiệm 2 &amp; 3: Baseline &amp; Ngưỡng Lọc</a:t>
            </a:r>
          </a:p>
          <a:p>
            <a:pPr>
              <a:defRPr sz="1250"/>
            </a:pPr>
            <a:r>
              <a:t>• THÍ NGHIỆM 2: Cosine vs Baseline (trên Validation, K = 10):</a:t>
            </a:r>
            <a:br/>
            <a:r>
              <a:t>  + Hit-rate@10: Cosine đạt 25.52% vs Baseline 4.78% (gấp 5.3 lần).</a:t>
            </a:r>
            <a:br/>
            <a:r>
              <a:t>  + Coverage: Cosine phủ 43.49% danh mục vs Baseline chỉ 0.59% (gấp 74 lần!).</a:t>
            </a:r>
            <a:br/>
            <a:r>
              <a:t>  + Tỷ lệ phổ biến: Cosine giảm từ 100% của Baseline xuống 44.18%.</a:t>
            </a:r>
            <a:br/>
            <a:br/>
            <a:r>
              <a:t>• THÍ NGHIỆM 3: Khảo sát ngưỡng min_count ∈ {1, 5, 10, 20, 50}:</a:t>
            </a:r>
            <a:br/>
            <a:r>
              <a:t>  + Hit-rate giữa min_count=1 (25.52%) và min_count=50 (24.63%) chỉ chênh 0.89%, nằm gọn trong ci95 (±1.16%).</a:t>
            </a:r>
            <a:br/>
            <a:r>
              <a:t>  + Nhưng Coverage giảm mạnh từ 43.49% xuống 34.68% (mất 20% danh mục gợi ý).</a:t>
            </a:r>
            <a:br/>
            <a:br/>
            <a:r>
              <a:t>-&gt; Quyết định: Chọn min_count = 1 (Không lọc) theo nguyên tắc Parsimony.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08760"/>
            <a:ext cx="521208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169164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D5C56"/>
                </a:solidFill>
              </a:defRPr>
            </a:pPr>
            <a:r>
              <a:t>Thí Nghiệm 1: Item–Invoice vs Item–Customer</a:t>
            </a:r>
          </a:p>
          <a:p>
            <a:pPr>
              <a:defRPr sz="1250"/>
            </a:pPr>
            <a:r>
              <a:t>So sánh vector theo Hóa đơn với vector theo Khách hàng (trên cùng bộ 5.424 ca validation):</a:t>
            </a:r>
            <a:br/>
            <a:br/>
            <a:r>
              <a:t>• Hit-rate@10: Ngang nhau hoàn toàn (cùng 25.52%).</a:t>
            </a:r>
            <a:br/>
            <a:br/>
            <a:r>
              <a:t>• Thiên lệch phổ biến: Item-Customer thiên lệch hàng phổ biến nghiêm trọng hơn nhiều (63.0% vs 44.2%). Do một khách mua nhiều đợt nên hàng phổ biến đồng xuất hiện với hầu hết các món khác.</a:t>
            </a:r>
            <a:br/>
            <a:br/>
            <a:r>
              <a:t>• Khả năng phục vụ thực tế: Dữ liệu thiếu 22.6% Customer ID (khách vãng lai). Item-Customer không có vector cho các đơn này.</a:t>
            </a:r>
            <a:br/>
            <a:br/>
            <a:r>
              <a:t>-&gt; Quyết định: Giữ Item–Invoice làm mô hình chính vì bao phủ toàn bộ hóa đơn, gợi ý đa dạng hơn và ít thiên lệch hàng đại trà.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 panose="020B0502040204020203"/>
              </a:defRPr>
            </a:pPr>
            <a:r>
              <a:t>7. THÍ NGHIỆM CHUYÊN SÂU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 panose="020B0502040204020203"/>
              </a:defRPr>
            </a:pPr>
            <a:r>
              <a:t>Thí Nghiệm 4: Phân Tích Nhóm Túi Quà Tặng (Nhóm G)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512064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0D5C56"/>
                </a:solidFill>
              </a:defRPr>
            </a:pPr>
            <a:r>
              <a:rPr dirty="0" err="1"/>
              <a:t>Đặc</a:t>
            </a:r>
            <a:r>
              <a:rPr dirty="0"/>
              <a:t> </a:t>
            </a:r>
            <a:r>
              <a:rPr dirty="0" err="1"/>
              <a:t>Điểm</a:t>
            </a:r>
            <a:r>
              <a:rPr dirty="0"/>
              <a:t> </a:t>
            </a:r>
            <a:r>
              <a:rPr dirty="0" err="1"/>
              <a:t>Của</a:t>
            </a:r>
            <a:r>
              <a:rPr dirty="0"/>
              <a:t> </a:t>
            </a:r>
            <a:r>
              <a:rPr dirty="0" err="1"/>
              <a:t>Nhóm</a:t>
            </a:r>
            <a:r>
              <a:rPr dirty="0"/>
              <a:t> </a:t>
            </a:r>
            <a:r>
              <a:rPr dirty="0" err="1"/>
              <a:t>Túi</a:t>
            </a:r>
            <a:r>
              <a:rPr dirty="0"/>
              <a:t> (</a:t>
            </a:r>
            <a:r>
              <a:rPr dirty="0" err="1"/>
              <a:t>Nhóm</a:t>
            </a:r>
            <a:r>
              <a:rPr dirty="0"/>
              <a:t> G)</a:t>
            </a:r>
          </a:p>
          <a:p>
            <a:pPr>
              <a:defRPr sz="1350"/>
            </a:pPr>
            <a:r>
              <a:rPr dirty="0"/>
              <a:t>• Định </a:t>
            </a:r>
            <a:r>
              <a:rPr dirty="0" err="1"/>
              <a:t>nghĩa</a:t>
            </a:r>
            <a:r>
              <a:rPr dirty="0"/>
              <a:t>: G = 27 </a:t>
            </a:r>
            <a:r>
              <a:rPr dirty="0" err="1"/>
              <a:t>sản</a:t>
            </a:r>
            <a:r>
              <a:rPr dirty="0"/>
              <a:t> </a:t>
            </a:r>
            <a:r>
              <a:rPr dirty="0" err="1"/>
              <a:t>phẩm</a:t>
            </a:r>
            <a:r>
              <a:rPr dirty="0"/>
              <a:t> </a:t>
            </a:r>
            <a:r>
              <a:rPr dirty="0" err="1"/>
              <a:t>trong</a:t>
            </a:r>
            <a:r>
              <a:rPr dirty="0"/>
              <a:t> Top 100 </a:t>
            </a:r>
            <a:r>
              <a:rPr dirty="0" err="1"/>
              <a:t>bán</a:t>
            </a:r>
            <a:r>
              <a:rPr dirty="0"/>
              <a:t> </a:t>
            </a:r>
            <a:r>
              <a:rPr dirty="0" err="1"/>
              <a:t>chạy</a:t>
            </a:r>
            <a:r>
              <a:rPr dirty="0"/>
              <a:t> </a:t>
            </a:r>
            <a:r>
              <a:rPr dirty="0" err="1"/>
              <a:t>của</a:t>
            </a:r>
            <a:r>
              <a:rPr dirty="0"/>
              <a:t> train </a:t>
            </a:r>
            <a:r>
              <a:rPr dirty="0" err="1"/>
              <a:t>có</a:t>
            </a:r>
            <a:r>
              <a:rPr dirty="0"/>
              <a:t> </a:t>
            </a:r>
            <a:r>
              <a:rPr dirty="0" err="1"/>
              <a:t>mô</a:t>
            </a:r>
            <a:r>
              <a:rPr dirty="0"/>
              <a:t> </a:t>
            </a:r>
            <a:r>
              <a:rPr dirty="0" err="1"/>
              <a:t>tả</a:t>
            </a:r>
            <a:r>
              <a:rPr dirty="0"/>
              <a:t> </a:t>
            </a:r>
            <a:r>
              <a:rPr dirty="0" err="1"/>
              <a:t>chứa</a:t>
            </a:r>
            <a:r>
              <a:rPr dirty="0"/>
              <a:t> BAG, SHOPPER, WRAP, GIFT, RIBBON, TISSUE.</a:t>
            </a:r>
            <a:br>
              <a:rPr dirty="0"/>
            </a:br>
            <a:br>
              <a:rPr dirty="0"/>
            </a:br>
            <a:r>
              <a:rPr dirty="0"/>
              <a:t>• </a:t>
            </a:r>
            <a:r>
              <a:rPr dirty="0" err="1"/>
              <a:t>Tỷ</a:t>
            </a:r>
            <a:r>
              <a:rPr dirty="0"/>
              <a:t> </a:t>
            </a:r>
            <a:r>
              <a:rPr dirty="0" err="1"/>
              <a:t>lệ</a:t>
            </a:r>
            <a:r>
              <a:rPr dirty="0"/>
              <a:t> </a:t>
            </a:r>
            <a:r>
              <a:rPr dirty="0" err="1"/>
              <a:t>xuất</a:t>
            </a:r>
            <a:r>
              <a:rPr dirty="0"/>
              <a:t> </a:t>
            </a:r>
            <a:r>
              <a:rPr dirty="0" err="1"/>
              <a:t>hiện</a:t>
            </a:r>
            <a:r>
              <a:rPr dirty="0"/>
              <a:t>:</a:t>
            </a:r>
            <a:br>
              <a:rPr dirty="0"/>
            </a:br>
            <a:r>
              <a:rPr dirty="0"/>
              <a:t>  + Trong </a:t>
            </a:r>
            <a:r>
              <a:rPr dirty="0" err="1"/>
              <a:t>danh</a:t>
            </a:r>
            <a:r>
              <a:rPr dirty="0"/>
              <a:t> </a:t>
            </a:r>
            <a:r>
              <a:rPr dirty="0" err="1"/>
              <a:t>mục</a:t>
            </a:r>
            <a:r>
              <a:rPr dirty="0"/>
              <a:t> </a:t>
            </a:r>
            <a:r>
              <a:rPr dirty="0" err="1"/>
              <a:t>sản</a:t>
            </a:r>
            <a:r>
              <a:rPr dirty="0"/>
              <a:t> </a:t>
            </a:r>
            <a:r>
              <a:rPr dirty="0" err="1"/>
              <a:t>phẩm</a:t>
            </a:r>
            <a:r>
              <a:rPr dirty="0"/>
              <a:t>: 0.6%</a:t>
            </a:r>
            <a:br>
              <a:rPr dirty="0"/>
            </a:br>
            <a:r>
              <a:rPr dirty="0"/>
              <a:t>  + Trong </a:t>
            </a:r>
            <a:r>
              <a:rPr dirty="0" err="1"/>
              <a:t>giỏ</a:t>
            </a:r>
            <a:r>
              <a:rPr dirty="0"/>
              <a:t> </a:t>
            </a:r>
            <a:r>
              <a:rPr dirty="0" err="1"/>
              <a:t>hàng</a:t>
            </a:r>
            <a:r>
              <a:rPr dirty="0"/>
              <a:t> </a:t>
            </a:r>
            <a:r>
              <a:rPr dirty="0" err="1"/>
              <a:t>thật</a:t>
            </a:r>
            <a:r>
              <a:rPr dirty="0"/>
              <a:t>: 6.5%</a:t>
            </a:r>
            <a:br>
              <a:rPr dirty="0"/>
            </a:br>
            <a:r>
              <a:rPr dirty="0"/>
              <a:t>  + Trong </a:t>
            </a:r>
            <a:r>
              <a:rPr dirty="0" err="1"/>
              <a:t>gợi</a:t>
            </a:r>
            <a:r>
              <a:rPr dirty="0"/>
              <a:t> ý Top-10 </a:t>
            </a:r>
            <a:r>
              <a:rPr dirty="0" err="1"/>
              <a:t>của</a:t>
            </a:r>
            <a:r>
              <a:rPr dirty="0"/>
              <a:t> Cosine: 22.1% (</a:t>
            </a:r>
            <a:r>
              <a:rPr dirty="0" err="1"/>
              <a:t>Gấp</a:t>
            </a:r>
            <a:r>
              <a:rPr dirty="0"/>
              <a:t> 3.4 </a:t>
            </a:r>
            <a:r>
              <a:rPr dirty="0" err="1"/>
              <a:t>lần</a:t>
            </a:r>
            <a:r>
              <a:rPr dirty="0"/>
              <a:t> </a:t>
            </a:r>
            <a:r>
              <a:rPr dirty="0" err="1"/>
              <a:t>thực</a:t>
            </a:r>
            <a:r>
              <a:rPr dirty="0"/>
              <a:t> </a:t>
            </a:r>
            <a:r>
              <a:rPr dirty="0" err="1"/>
              <a:t>tế</a:t>
            </a:r>
            <a:r>
              <a:rPr dirty="0"/>
              <a:t>!)</a:t>
            </a:r>
            <a:br>
              <a:rPr dirty="0"/>
            </a:br>
            <a:br>
              <a:rPr dirty="0"/>
            </a:br>
            <a:r>
              <a:rPr dirty="0"/>
              <a:t>• Khi </a:t>
            </a:r>
            <a:r>
              <a:rPr dirty="0" err="1"/>
              <a:t>món</a:t>
            </a:r>
            <a:r>
              <a:rPr dirty="0"/>
              <a:t> </a:t>
            </a:r>
            <a:r>
              <a:rPr dirty="0" err="1"/>
              <a:t>bị</a:t>
            </a:r>
            <a:r>
              <a:rPr dirty="0"/>
              <a:t> </a:t>
            </a:r>
            <a:r>
              <a:rPr dirty="0" err="1"/>
              <a:t>giấu</a:t>
            </a:r>
            <a:r>
              <a:rPr dirty="0"/>
              <a:t> </a:t>
            </a:r>
            <a:r>
              <a:rPr dirty="0" err="1"/>
              <a:t>thuộc</a:t>
            </a:r>
            <a:r>
              <a:rPr dirty="0"/>
              <a:t> G: Hit-rate@10 </a:t>
            </a:r>
            <a:r>
              <a:rPr dirty="0" err="1"/>
              <a:t>đạt</a:t>
            </a:r>
            <a:r>
              <a:rPr dirty="0"/>
              <a:t> </a:t>
            </a:r>
            <a:r>
              <a:rPr dirty="0" err="1"/>
              <a:t>tới</a:t>
            </a:r>
            <a:r>
              <a:rPr dirty="0"/>
              <a:t> 66.8% ±4.6 (</a:t>
            </a:r>
            <a:r>
              <a:rPr dirty="0" err="1"/>
              <a:t>vượt</a:t>
            </a:r>
            <a:r>
              <a:rPr dirty="0"/>
              <a:t> xa </a:t>
            </a:r>
            <a:r>
              <a:rPr dirty="0" err="1"/>
              <a:t>mức</a:t>
            </a:r>
            <a:r>
              <a:rPr dirty="0"/>
              <a:t> </a:t>
            </a:r>
            <a:r>
              <a:rPr dirty="0" err="1"/>
              <a:t>trung</a:t>
            </a:r>
            <a:r>
              <a:rPr dirty="0"/>
              <a:t> </a:t>
            </a:r>
            <a:r>
              <a:rPr dirty="0" err="1"/>
              <a:t>bình</a:t>
            </a:r>
            <a:r>
              <a:rPr dirty="0"/>
              <a:t> 25.5%). </a:t>
            </a:r>
            <a:r>
              <a:rPr dirty="0" err="1"/>
              <a:t>Mô</a:t>
            </a:r>
            <a:r>
              <a:rPr dirty="0"/>
              <a:t> </a:t>
            </a:r>
            <a:r>
              <a:rPr dirty="0" err="1"/>
              <a:t>hình</a:t>
            </a:r>
            <a:r>
              <a:rPr dirty="0"/>
              <a:t> </a:t>
            </a:r>
            <a:r>
              <a:rPr dirty="0" err="1"/>
              <a:t>cực</a:t>
            </a:r>
            <a:r>
              <a:rPr dirty="0"/>
              <a:t> </a:t>
            </a:r>
            <a:r>
              <a:rPr dirty="0" err="1"/>
              <a:t>kỳ</a:t>
            </a:r>
            <a:r>
              <a:rPr dirty="0"/>
              <a:t> </a:t>
            </a:r>
            <a:r>
              <a:rPr dirty="0" err="1"/>
              <a:t>nhạy</a:t>
            </a:r>
            <a:r>
              <a:rPr dirty="0"/>
              <a:t> </a:t>
            </a:r>
            <a:r>
              <a:rPr dirty="0" err="1"/>
              <a:t>với</a:t>
            </a:r>
            <a:r>
              <a:rPr dirty="0"/>
              <a:t> </a:t>
            </a:r>
            <a:r>
              <a:rPr dirty="0" err="1"/>
              <a:t>nhóm</a:t>
            </a:r>
            <a:r>
              <a:rPr dirty="0"/>
              <a:t> </a:t>
            </a:r>
            <a:r>
              <a:rPr dirty="0" err="1"/>
              <a:t>túi</a:t>
            </a:r>
            <a:r>
              <a:rPr dirty="0"/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08760"/>
            <a:ext cx="521208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169164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0D5C56"/>
                </a:solidFill>
              </a:defRPr>
            </a:pPr>
            <a:r>
              <a:t>Khảo Sát Loại Bỏ &amp; Quyết Định</a:t>
            </a:r>
          </a:p>
          <a:p>
            <a:pPr>
              <a:defRPr sz="1300"/>
            </a:pPr>
            <a:r>
              <a:t>• Hiệu ứng cơ học:</a:t>
            </a:r>
            <a:br/>
            <a:r>
              <a:t>  + Trên các ca giấu món ngoài G: Bỏ G làm Hit-rate tăng khoảng 2 điểm (từ 22.2% lên 24.4%), nhưng đây chỉ là hiệu ứng cơ học vì loại bớt suất trượt chắc chắn.</a:t>
            </a:r>
            <a:br/>
            <a:r>
              <a:t>  + Trên toàn bộ ca đánh giá: Bỏ G làm Hit-rate@10 GIẢM 3 điểm (từ 25.5% xuống khoảng 22.5%).</a:t>
            </a:r>
            <a:br/>
            <a:r>
              <a:t>  + Bỏ G khỏi đầu vào chỉ chênh 0.2 - 0.8 điểm (nhỏ hơn ci95).</a:t>
            </a:r>
            <a:br/>
            <a:br/>
            <a:r>
              <a:t>-&gt; Quyết định: KHÔNG LỌC NHÓM G trong mô hình chính. Ghi nhận xu hướng gợi ý túi là một giới hạn tự nhiên phản ánh thói quen mua túi kèm quà của cửa hàng.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 panose="020B0502040204020203"/>
              </a:defRPr>
            </a:pPr>
            <a:r>
              <a:t>8. KẾT QUẢ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 panose="020B0502040204020203"/>
              </a:defRPr>
            </a:pPr>
            <a:r>
              <a:t>Đánh Giá Độc Lập Trên Tập Test (5.461 Ca, Seed 42)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3383280" cy="1463040"/>
          </a:xfrm>
          <a:prstGeom prst="roundRect">
            <a:avLst/>
          </a:prstGeom>
          <a:solidFill>
            <a:srgbClr val="083D39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30175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97706"/>
                </a:solidFill>
              </a:defRPr>
            </a:pPr>
            <a:r>
              <a:t>HIT-RATE@10 (TEST)</a:t>
            </a:r>
          </a:p>
          <a:p>
            <a:pPr>
              <a:defRPr sz="2800" b="1">
                <a:solidFill>
                  <a:srgbClr val="FFFFFF"/>
                </a:solidFill>
              </a:defRPr>
            </a:pPr>
            <a:r>
              <a:t>21.59% ±1.09</a:t>
            </a: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Gấp 5.6 lần Baseline (3.85%)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508760"/>
            <a:ext cx="3383280" cy="1463040"/>
          </a:xfrm>
          <a:prstGeom prst="roundRect">
            <a:avLst/>
          </a:prstGeom>
          <a:solidFill>
            <a:srgbClr val="0D5C56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0" y="1600200"/>
            <a:ext cx="30175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97706"/>
                </a:solidFill>
              </a:defRPr>
            </a:pPr>
            <a:r>
              <a:t>ĐỘ PHỦ (COVERAGE@10)</a:t>
            </a:r>
          </a:p>
          <a:p>
            <a:pPr>
              <a:defRPr sz="2800" b="1">
                <a:solidFill>
                  <a:srgbClr val="FFFFFF"/>
                </a:solidFill>
              </a:defRPr>
            </a:pPr>
            <a:r>
              <a:t>40.86%</a:t>
            </a: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Baseline chỉ đạt 0.85% (Gấp 48 lần)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508760"/>
            <a:ext cx="3383280" cy="14630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0" y="1600200"/>
            <a:ext cx="30175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TỶ LỆ HÀNG PHỔ BIẾN</a:t>
            </a:r>
          </a:p>
          <a:p>
            <a:pPr>
              <a:defRPr sz="2800" b="1">
                <a:solidFill>
                  <a:srgbClr val="0F172A"/>
                </a:solidFill>
              </a:defRPr>
            </a:pPr>
            <a:r>
              <a:t>28.96%</a:t>
            </a:r>
          </a:p>
          <a:p>
            <a:pPr>
              <a:defRPr sz="1200">
                <a:solidFill>
                  <a:srgbClr val="0D5C56"/>
                </a:solidFill>
              </a:defRPr>
            </a:pPr>
            <a:r>
              <a:t>Baseline là 100% (Giảm thiên vị)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31520" y="3200400"/>
          <a:ext cx="106984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F172A"/>
                          </a:solidFill>
                        </a:defRPr>
                      </a:pPr>
                      <a:r>
                        <a:t>K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F172A"/>
                          </a:solidFill>
                        </a:defRPr>
                      </a:pPr>
                      <a:r>
                        <a:t>Top Bán Chạy (Baseline)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F172A"/>
                          </a:solidFill>
                        </a:defRPr>
                      </a:pPr>
                      <a:r>
                        <a:t>Cosine Item–Invoice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F172A"/>
                          </a:solidFill>
                        </a:defRPr>
                      </a:pPr>
                      <a:r>
                        <a:t>Coverage (Cosine)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F172A"/>
                          </a:solidFill>
                        </a:defRPr>
                      </a:pPr>
                      <a:r>
                        <a:t>Tỷ lệ phổ biến (Cosine)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K =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2.38% ±0.40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D5C56"/>
                          </a:solidFill>
                        </a:defRPr>
                      </a:pPr>
                      <a:r>
                        <a:t>15.89% ±0.97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33.13%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29.00%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K = 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3.85% ±0.51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D5C56"/>
                          </a:solidFill>
                        </a:defRPr>
                      </a:pPr>
                      <a:r>
                        <a:t>21.59% ±1.09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40.86%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28.96%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K = 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5.68% ±0.61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D5C56"/>
                          </a:solidFill>
                        </a:defRPr>
                      </a:pPr>
                      <a:r>
                        <a:t>27.49% ±1.18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49.38%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29.87%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31520" y="530352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64748B"/>
                </a:solidFill>
              </a:defRPr>
            </a:pPr>
            <a:r>
              <a:t>• Tiêu chí kết luận đã chốt: Cận dưới ci95 của Cosine (20.50%) &gt; Cận trên ci95 của Baseline (4.36%) -&gt; Cosine vượt trội hoàn toàn.</a:t>
            </a:r>
            <a:br/>
            <a:r>
              <a:t>• Kiểm định 20 seed: Lặp lại 20 seed ngẫu nhiên khác nhau, Cosine duy trì trung bình 21.43% ±0.57 (ổn định từ 19.79% đến 22.38%).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 panose="020B0502040204020203"/>
              </a:defRPr>
            </a:pPr>
            <a:r>
              <a:t>9. PHÂN TÍCH LỖI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 panose="020B0502040204020203"/>
              </a:defRPr>
            </a:pPr>
            <a:r>
              <a:t>Phân Tích Lỗi Đa Chiều Trên Tập Test (Hit-rate@10)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10561320" cy="2629535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83615" y="1541145"/>
            <a:ext cx="10057765" cy="2597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0D5C56"/>
                </a:solidFill>
              </a:defRPr>
            </a:pPr>
            <a:r>
              <a:t>3 Chiều Phân Khúc Lỗi Lớn</a:t>
            </a:r>
          </a:p>
          <a:p>
            <a:pPr>
              <a:defRPr sz="1250"/>
            </a:pPr>
            <a:r>
              <a:t>1. Độ phổ biến của món bị giấu:</a:t>
            </a:r>
            <a:br/>
            <a:r>
              <a:t>• Món &gt;= 500 hóa đơn: Đạt 32.0% ±1.9 (chiếm tới 61% số lượt trúng của Cosine).</a:t>
            </a:r>
            <a:br/>
            <a:r>
              <a:t>• Món &lt; 20 hóa đơn: Đạt 15.9% ±5.1.</a:t>
            </a:r>
            <a:br/>
            <a:r>
              <a:t>• Baseline CHỈ trúng ở nhóm &gt;= 500 hóa đơn (9.3%), hoàn toàn bất lực ở các món còn lại.</a:t>
            </a:r>
            <a:br/>
            <a:br/>
            <a:r>
              <a:t>2. Kích thước giỏ hàng (Basket Size):</a:t>
            </a:r>
            <a:br/>
            <a:r>
              <a:t>• Giỏ 2 - 5 món: Hit-rate đạt 33.1% ±3.3.</a:t>
            </a:r>
            <a:br/>
            <a:r>
              <a:t>• Giỏ &gt; 40 món: Hit-rate GIẢM CÒN 9.2% ±1.8.</a:t>
            </a:r>
            <a:br/>
            <a:r>
              <a:t>-&gt; Điểm yếu lớn: Giỏ nhiều món làm tổng cosine bị dồn điểm vào các món liên kết rộng, gây loãng gợi ý.</a:t>
            </a:r>
            <a:br/>
            <a:br/>
            <a:r>
              <a:t>3. Theo tháng giao dịch: Hiệu năng ổn định (21.1% - 21.4% từ T10-T12; T9 đạt 26.7%).</a:t>
            </a:r>
          </a:p>
        </p:txBody>
      </p:sp>
      <p:pic>
        <p:nvPicPr>
          <p:cNvPr id="8" name="Picture 7" descr="error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189730"/>
            <a:ext cx="10728960" cy="22631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108960" y="650367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i="1">
                <a:solidFill>
                  <a:srgbClr val="64748B"/>
                </a:solidFill>
              </a:defRPr>
            </a:pPr>
            <a:r>
              <a:t>Hình 2: So sánh Hit-rate@10 giữa Cosine và Baseline theo các phân khúc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 panose="020B0502040204020203"/>
              </a:defRPr>
            </a:pPr>
            <a:r>
              <a:t>11. THẢO LUẬN KHOA HỌC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 panose="020B0502040204020203"/>
              </a:defRPr>
            </a:pPr>
            <a:r>
              <a:t>Đánh Giá Trung Thực: Giả Định &amp; Giới Hạn Của Mô Hình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512064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0D5C56"/>
                </a:solidFill>
              </a:defRPr>
            </a:pPr>
            <a:r>
              <a:t>Giả Định Cốt Lõi Của Phương Pháp</a:t>
            </a:r>
          </a:p>
          <a:p>
            <a:pPr>
              <a:defRPr sz="1350"/>
            </a:pPr>
            <a:r>
              <a:t>• Giả định đồng xuất hiện: Hai sản phẩm hay nằm chung hóa đơn thì có mối quan hệ bổ trợ hoặc quan tâm cùng lúc.</a:t>
            </a:r>
            <a:br/>
            <a:br/>
            <a:r>
              <a:t>• Tương quan không phải nhân quả: Kết quả chỉ phản ánh hành vi mua kèm trong quá khứ, không khẳng định việc gợi ý món A sẽ gây ra hành vi mua món B.</a:t>
            </a:r>
            <a:br/>
            <a:br/>
            <a:r>
              <a:t>• Tính đối xứng: Cosine(A, B) = Cosine(B, A), không phân biệt được chiều A kéo theo B hay ngược lại (như Luật kết hợp Association Rules).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08760"/>
            <a:ext cx="521208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169164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0D5C56"/>
                </a:solidFill>
              </a:defRPr>
            </a:pPr>
            <a:r>
              <a:t>4 Giới Hạn Đã Kiểm Chứng</a:t>
            </a:r>
          </a:p>
          <a:p>
            <a:pPr>
              <a:defRPr sz="1300"/>
            </a:pPr>
            <a:r>
              <a:t>1. Vấn đề khởi đầu lạnh (Cold-Start): Không thể gợi ý cho sản phẩm mới tinh chưa từng có trong tập học (4.8% cặp ở test bị cold-start).</a:t>
            </a:r>
            <a:br/>
            <a:br/>
            <a:r>
              <a:t>2. Yếu ở giỏ hàng lớn (&gt;40 món): Chiếm tới 18.8% số ca test, nhưng Hit-rate chỉ đạt 9.2%.</a:t>
            </a:r>
            <a:br/>
            <a:br/>
            <a:r>
              <a:t>3. Thiên lệch biến thể cùng dòng: Mô hình hay gợi ý biến thể khác màu/kích thước của cùng một mặt hàng (ví dụ mua tách hồng thì gợi ý 4 tách màu khác).</a:t>
            </a:r>
            <a:br/>
            <a:br/>
            <a:r>
              <a:t>4. Đặc thù dữ liệu: Khách UK chiếm 92.6% và tập test rơi vào mùa cao điểm Giáng sinh cuối năm 2011.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 panose="020B0502040204020203"/>
              </a:defRPr>
            </a:pPr>
            <a:r>
              <a:t>12. HƯỚNG PHÁT TRIỂN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 panose="020B0502040204020203"/>
              </a:defRPr>
            </a:pPr>
            <a:r>
              <a:t>Định Hướng Nâng Cấp Thuật Toán Trong Tương Lai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338328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D5C56"/>
                </a:solidFill>
              </a:defRPr>
            </a:pPr>
            <a:r>
              <a:t>1. Trọng Số Kích Thước Giỏ (IDF / BM25)</a:t>
            </a:r>
          </a:p>
          <a:p>
            <a:pPr>
              <a:defRPr sz="1300"/>
            </a:pPr>
            <a:r>
              <a:t>• Mục tiêu: Khắc phục sự sụt giảm Hit-rate từ 33.1% xuống 9.2% ở giỏ lớn.</a:t>
            </a:r>
            <a:br/>
            <a:br/>
            <a:r>
              <a:t>• Giải pháp: Áp dụng trọng số nghịch đảo tần suất (IDF). Món hiếm trong giỏ nhận trọng số lớn hơn; hóa đơn dài bị suy giảm độ tin cậy kết nối giữa 2 món ngẫu nhiên.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508760"/>
            <a:ext cx="338328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0" y="169164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D5C56"/>
                </a:solidFill>
              </a:defRPr>
            </a:pPr>
            <a:r>
              <a:t>2. Tái Xếp Hạng Đa Dạng (MMR Re-ranking)</a:t>
            </a:r>
          </a:p>
          <a:p>
            <a:pPr>
              <a:defRPr sz="1300"/>
            </a:pPr>
            <a:r>
              <a:t>• Mục tiêu: Tránh gợi ý trùng lặp các biến thể cùng dòng sản phẩm.</a:t>
            </a:r>
            <a:br/>
            <a:br/>
            <a:r>
              <a:t>• Giải pháp: Áp dụng thuật toán Maximal Marginal Relevance (MMR). Phạt điểm các món có độ giống nhau quá cao trong danh sách gợi ý để tăng độ phủ và độ mới (Novelty / Diversity).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508760"/>
            <a:ext cx="338328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0" y="169164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D5C56"/>
                </a:solidFill>
              </a:defRPr>
            </a:pPr>
            <a:r>
              <a:t>3. Mô Hình Lai Cho Cold-Start (Content-based)</a:t>
            </a:r>
          </a:p>
          <a:p>
            <a:pPr>
              <a:defRPr sz="1300"/>
            </a:pPr>
            <a:r>
              <a:t>• Mục tiêu: Xử lý 4.8% sản phẩm mới ở tập test chưa có giao dịch cũ.</a:t>
            </a:r>
            <a:br/>
            <a:br/>
            <a:r>
              <a:t>• Giải pháp: Nhúng ngữ nghĩa văn bản của cột Description bằng TF-IDF hoặc Sentence-BERT. Khi gặp món mới, tự động Fallback sang gợi ý tương đồng ngữ nghĩa.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3D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97706"/>
                </a:solidFill>
                <a:latin typeface="Segoe UI" panose="020B0502040204020203"/>
              </a:defRPr>
            </a:pPr>
            <a:r>
              <a:t>TỔNG KẾT BÀI BÁO CÁO</a:t>
            </a:r>
          </a:p>
          <a:p>
            <a:pPr>
              <a:spcBef>
                <a:spcPts val="800"/>
              </a:spcBef>
              <a:spcAft>
                <a:spcPts val="2000"/>
              </a:spcAft>
              <a:defRPr sz="2800" b="1">
                <a:solidFill>
                  <a:srgbClr val="FFFFFF"/>
                </a:solidFill>
                <a:latin typeface="Segoe UI" panose="020B0502040204020203"/>
              </a:defRPr>
            </a:pPr>
            <a:r>
              <a:t>3 Thông Điệp Cốt Lõi Của Nhóm</a:t>
            </a:r>
          </a:p>
          <a:p>
            <a:pPr>
              <a:spcAft>
                <a:spcPts val="2400"/>
              </a:spcAft>
              <a:defRPr sz="1400">
                <a:solidFill>
                  <a:srgbClr val="F1F5F9"/>
                </a:solidFill>
              </a:defRPr>
            </a:pPr>
            <a:r>
              <a:t>1. Hiệu năng vượt trội: Cosine Item–Invoice đạt Hit-rate@10 là 21.59%, vượt baseline 5.6 lần và mở rộng độ phủ danh mục gấp 48 lần (40.86% so với 0.85%).</a:t>
            </a:r>
            <a:br/>
            <a:br/>
            <a:r>
              <a:t>2. Phương pháp luận trung thực: Nghiêm túc chặn rò rỉ dữ liệu, đóng băng cấu hình bằng Git tag trước khi xem test, phân tích sai số đa chiều theo tinh thần khoa học.</a:t>
            </a:r>
            <a:br/>
            <a:br/>
            <a:r>
              <a:t>3. Kỹ thuật hoàn thiện: Đạt đủ tiêu chuẩn từ thuật toán, kiểm thử tự động (31 unit tests) đến ứng dụng Web SPA gợi ý giỏ hàng thông minh và đóng gói Docker.</a:t>
            </a:r>
          </a:p>
          <a:p>
            <a:pPr>
              <a:defRPr sz="1800" b="1">
                <a:solidFill>
                  <a:srgbClr val="D97706"/>
                </a:solidFill>
                <a:latin typeface="Segoe UI" panose="020B0502040204020203"/>
              </a:defRPr>
            </a:pPr>
            <a:r>
              <a:t>XIN CHÂN THÀNH CẢM ƠN THẦY VÀ HỘI ĐỒNG ĐÃ LẮNG NGHE!</a:t>
            </a:r>
            <a:br/>
            <a:r>
              <a:t>SẴN SÀNG TRẢ LỜI CÁC CÂU HỎI VẤN ĐÁP.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3207</Words>
  <Application>Microsoft Office PowerPoint</Application>
  <PresentationFormat>Widescreen</PresentationFormat>
  <Paragraphs>118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Binh Phan</cp:lastModifiedBy>
  <cp:revision>5</cp:revision>
  <dcterms:created xsi:type="dcterms:W3CDTF">2013-01-27T09:14:00Z</dcterms:created>
  <dcterms:modified xsi:type="dcterms:W3CDTF">2026-10-18T16:21:15Z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33083C5B705E4270B9F8ECC959C54EF9_12</vt:lpwstr>
  </property>
  <property fmtid="{D5CDD505-2E9C-101B-9397-08002B2CF9AE}" pid="3" name="KSOProductBuildVer">
    <vt:lpwstr>1033-12.1.0.29162</vt:lpwstr>
  </property>
</Properties>
</file>